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6" r:id="rId13"/>
    <p:sldId id="265" r:id="rId14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21:22:11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21:22:32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80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3B3C-EAA6-8494-7332-2BCF61A2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49E96-7087-570B-6E64-2E0B370A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2B3A2-AA7E-A643-49A5-76B6237E7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CED28-0EAA-3D06-EA88-E99BEC4D3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58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5B54-0F93-43ED-AF99-B55AC2C36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FDE0D-86B3-4585-EB55-1CEF61B05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B10B1-4777-604E-DDFA-20ABED82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F77E-D397-8E13-A624-050C1048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6B51F-EB40-00B9-FFD7-0A1A976B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125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26A6-894C-D135-2074-A01FE19A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0DC1C-67E8-2CDA-4024-7F5305300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8F24C-AD90-BEB7-8EF3-AD5AEE927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DACA4-E25D-53E4-C854-B0B0FC20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29F6E-EDE2-8CD9-EE27-B14F6344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8126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E137-5A6D-B263-4D51-4C59D1C23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00AFB-E5CE-5311-AABC-62F99A0E7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3AF11-472F-C2AF-2563-D05114CE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9C487-137A-0757-4FB3-6A76A674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B049-9237-D34A-C222-8FDBF891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8422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D70E-9AA2-E9AF-F946-E4BE0843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DB1EC-449B-FEAB-A432-095CDB080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97812-DD9A-72A4-BBA0-E805B18BF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C6754-30DA-1BD3-7BEC-5750F4A3B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8D767-9762-B40F-5817-C618DBEA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464F4-97CF-0AEA-4960-F2E7DAC8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6735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7B4D-B2DF-A487-F757-BD6523C13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E44BD-ACBA-15A6-DD16-8FF70AD4E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E6BE2-5E86-38A5-B1AD-BE84A24A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4492B-86E0-FB3B-42B8-D92CD7833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F8BA9-B5B1-D9F4-9BA2-A9984896C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633D36-C23D-8436-4C6B-E124AB5C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69CBD-9C50-C3F9-0B00-055299F8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160B5-A04E-667F-E567-59087A81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529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5C4F-8DC6-0DC4-D83B-2AD74220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652A1-04F4-B2ED-2452-55C05E24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7F723-F50A-9954-1743-6C572F0F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78B91-D72E-EC0C-82A9-2B805C54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796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B6488-42D2-2A05-4EC0-996142BE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E98B1-E4B9-DB5E-2569-66FDB1F2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C5EE0-FAF6-9899-AB09-F9C23132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5059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AE728-F080-E7E1-06F7-6FA9E85A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17670-4FB6-4D3F-43A5-CC90F1B6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8AF2C-0428-1BAD-18A8-4550B4F9D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DD45C-CB17-DD10-CC28-863AA6BC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83687-CFB6-D443-3988-8977E7B3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95269-1A3E-C7FB-BF15-3116E712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9363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C5A9-3ADA-8FC4-E933-6C697D34A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201F7-E882-FDD7-154D-6514790C8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7F2F9-A134-C1AA-C4B8-EA306B456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4402D-342D-87A5-3741-7714BEE4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18AD2-6B6C-A26C-FAC8-8229484E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CA5FC-C4DF-DFA3-4443-D209AB4F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7126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89E0-ED6F-D47C-FBF5-DEB1FEC9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5DDF6-9522-00CC-C7E9-28702A97A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911CF-5AB1-EEBA-D998-190036679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AB0E8-19C7-B547-F8EC-CC0372019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DF548-FCEC-9489-B4D1-F5AEFC37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1769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7ED7E-B192-1D86-2584-5CA4DF0E0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468FD-AE9B-BC58-A5C6-C28282238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0E013-803E-CBDE-D1EA-2CFEBFA7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8578B-FAFF-0D02-0505-93531C7C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7D5ED-2F8B-3D6F-5265-C719FB1E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4420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47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29E2D6-7ABE-98E7-8ED6-1F53D7942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93D6A-631B-0E15-B7C2-50EF7FE55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E6834-7C67-9CBF-DDE7-8968091BD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9883-221E-1003-DF61-71E95C031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9783F-5D3D-9A6D-896F-D5F113510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09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45720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00393"/>
            <a:ext cx="358950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3C5D"/>
                </a:solidFill>
              </a:rPr>
              <a:t>Bitcoin vs Gold</a:t>
            </a:r>
            <a:endParaRPr lang="en-US" sz="36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9688B"/>
                </a:solidFill>
              </a:rPr>
              <a:t>2020–2025 Monthly Correlation Analysis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788596"/>
            <a:ext cx="3414409" cy="53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Noveno Andrew Martin</a:t>
            </a: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  <a:t>Testing the “digital gold” hypothesis via monthly log returns.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D8F061E-908D-C8BB-7B9D-1E512AA99E98}"/>
                  </a:ext>
                </a:extLst>
              </p14:cNvPr>
              <p14:cNvContentPartPr/>
              <p14:nvPr/>
            </p14:nvContentPartPr>
            <p14:xfrm>
              <a:off x="453860" y="44704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D8F061E-908D-C8BB-7B9D-1E512AA99E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740" y="44092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EC04B97-4E21-9EBE-1514-06E8D0C62792}"/>
                  </a:ext>
                </a:extLst>
              </p14:cNvPr>
              <p14:cNvContentPartPr/>
              <p14:nvPr/>
            </p14:nvContentPartPr>
            <p14:xfrm>
              <a:off x="1627460" y="35020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EC04B97-4E21-9EBE-1514-06E8D0C627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1340" y="34408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11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Research Questions &amp; Objectives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319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2000" b="1" dirty="0">
                <a:solidFill>
                  <a:srgbClr val="39688B"/>
                </a:solidFill>
              </a:rPr>
              <a:t>Main Question:
</a:t>
            </a:r>
            <a:r>
              <a:rPr lang="en-US" sz="2000" dirty="0">
                <a:solidFill>
                  <a:srgbClr val="333333"/>
                </a:solidFill>
              </a:rPr>
              <a:t>Is there a stable linear relationship between monthly gold and Bitcoin returns?
</a:t>
            </a:r>
            <a:r>
              <a:rPr lang="en-US" sz="2000" b="1" dirty="0">
                <a:solidFill>
                  <a:srgbClr val="39688B"/>
                </a:solidFill>
              </a:rPr>
              <a:t>Specific Objectives: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Measure full‑period correlation with  95% confidence interval (CI)
Examine time‑varying correlation via 6‑ and 12‑month rolling windows
Compare correlations across sub‑periods (2020–2021, 2022–2023, 2024–2025)
Assess robustness using Spearman, bootstrap CI, winsorization &amp; jackknife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Data Sources &amp; Processing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66162"/>
              </p:ext>
            </p:extLst>
          </p:nvPr>
        </p:nvGraphicFramePr>
        <p:xfrm>
          <a:off x="457200" y="1280161"/>
          <a:ext cx="7909562" cy="1303020"/>
        </p:xfrm>
        <a:graphic>
          <a:graphicData uri="http://schemas.openxmlformats.org/drawingml/2006/table">
            <a:tbl>
              <a:tblPr/>
              <a:tblGrid>
                <a:gridCol w="2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Dataset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Provider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Frequency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Licence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Gold prices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DataHub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Monthly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PDDL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Bitcoin OHLCV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M. Jaouhari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Hourly → Monthly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MIT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6751" y="2937510"/>
            <a:ext cx="861061" cy="668208"/>
          </a:xfrm>
          <a:prstGeom prst="roundRect">
            <a:avLst>
              <a:gd name="adj" fmla="val 20000"/>
            </a:avLst>
          </a:prstGeom>
          <a:solidFill>
            <a:srgbClr val="E5EEF8"/>
          </a:solidFill>
          <a:ln w="12700">
            <a:solidFill>
              <a:srgbClr val="A0C4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2"/>
          <p:cNvSpPr/>
          <p:nvPr/>
        </p:nvSpPr>
        <p:spPr>
          <a:xfrm>
            <a:off x="384361" y="2960370"/>
            <a:ext cx="1005840" cy="668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5D"/>
                </a:solidFill>
              </a:rPr>
              <a:t>Load raw CSV</a:t>
            </a:r>
            <a:endParaRPr lang="en-US" sz="1200" b="1" dirty="0"/>
          </a:p>
        </p:txBody>
      </p:sp>
      <p:sp>
        <p:nvSpPr>
          <p:cNvPr id="22" name="Text 18"/>
          <p:cNvSpPr/>
          <p:nvPr/>
        </p:nvSpPr>
        <p:spPr>
          <a:xfrm>
            <a:off x="456751" y="3761929"/>
            <a:ext cx="7910011" cy="946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b="1" dirty="0">
                <a:solidFill>
                  <a:srgbClr val="39688B"/>
                </a:solidFill>
              </a:rPr>
              <a:t>Processed dataset: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66 monthly observations (Feb 2020 – Jul 2025) stored in data/processed/.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Intermediate files reside in data/interim/.</a:t>
            </a:r>
            <a:endParaRPr lang="en-US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9FA933C9-C582-3B11-1943-5CF75BCEB98A}"/>
              </a:ext>
            </a:extLst>
          </p:cNvPr>
          <p:cNvSpPr/>
          <p:nvPr/>
        </p:nvSpPr>
        <p:spPr>
          <a:xfrm>
            <a:off x="1446278" y="3182694"/>
            <a:ext cx="360455" cy="223558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4D07AD05-AD25-60D7-931A-787F80D74EA3}"/>
              </a:ext>
            </a:extLst>
          </p:cNvPr>
          <p:cNvSpPr/>
          <p:nvPr/>
        </p:nvSpPr>
        <p:spPr>
          <a:xfrm>
            <a:off x="1866451" y="2937510"/>
            <a:ext cx="861061" cy="668208"/>
          </a:xfrm>
          <a:prstGeom prst="roundRect">
            <a:avLst>
              <a:gd name="adj" fmla="val 20000"/>
            </a:avLst>
          </a:prstGeom>
          <a:solidFill>
            <a:srgbClr val="E5EEF8"/>
          </a:solidFill>
          <a:ln w="12700">
            <a:solidFill>
              <a:srgbClr val="A0C4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651A8DAD-4025-4FB1-E8CC-8E07EB7EF2DD}"/>
              </a:ext>
            </a:extLst>
          </p:cNvPr>
          <p:cNvSpPr/>
          <p:nvPr/>
        </p:nvSpPr>
        <p:spPr>
          <a:xfrm>
            <a:off x="3276151" y="2937509"/>
            <a:ext cx="861061" cy="668209"/>
          </a:xfrm>
          <a:prstGeom prst="roundRect">
            <a:avLst>
              <a:gd name="adj" fmla="val 20000"/>
            </a:avLst>
          </a:prstGeom>
          <a:solidFill>
            <a:srgbClr val="E5EEF8"/>
          </a:solidFill>
          <a:ln w="12700">
            <a:solidFill>
              <a:srgbClr val="A0C4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5AECC536-E8CE-5223-85C8-A1CCB0481BE4}"/>
              </a:ext>
            </a:extLst>
          </p:cNvPr>
          <p:cNvSpPr/>
          <p:nvPr/>
        </p:nvSpPr>
        <p:spPr>
          <a:xfrm>
            <a:off x="4686299" y="2937510"/>
            <a:ext cx="861061" cy="616328"/>
          </a:xfrm>
          <a:prstGeom prst="roundRect">
            <a:avLst>
              <a:gd name="adj" fmla="val 20000"/>
            </a:avLst>
          </a:prstGeom>
          <a:solidFill>
            <a:srgbClr val="E5EEF8"/>
          </a:solidFill>
          <a:ln w="12700">
            <a:solidFill>
              <a:srgbClr val="A0C4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2E663EA2-C514-DE47-C387-40C8C8777633}"/>
              </a:ext>
            </a:extLst>
          </p:cNvPr>
          <p:cNvSpPr/>
          <p:nvPr/>
        </p:nvSpPr>
        <p:spPr>
          <a:xfrm>
            <a:off x="6095999" y="2937510"/>
            <a:ext cx="861061" cy="616328"/>
          </a:xfrm>
          <a:prstGeom prst="roundRect">
            <a:avLst>
              <a:gd name="adj" fmla="val 20000"/>
            </a:avLst>
          </a:prstGeom>
          <a:solidFill>
            <a:srgbClr val="E5EEF8"/>
          </a:solidFill>
          <a:ln w="12700">
            <a:solidFill>
              <a:srgbClr val="A0C4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7A782EBD-D3FB-F738-798A-69982562D171}"/>
              </a:ext>
            </a:extLst>
          </p:cNvPr>
          <p:cNvSpPr/>
          <p:nvPr/>
        </p:nvSpPr>
        <p:spPr>
          <a:xfrm>
            <a:off x="7505699" y="2937510"/>
            <a:ext cx="861061" cy="616328"/>
          </a:xfrm>
          <a:prstGeom prst="roundRect">
            <a:avLst>
              <a:gd name="adj" fmla="val 20000"/>
            </a:avLst>
          </a:prstGeom>
          <a:solidFill>
            <a:srgbClr val="E5EEF8"/>
          </a:solidFill>
          <a:ln w="12700">
            <a:solidFill>
              <a:srgbClr val="A0C4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3236456B-A3A0-E7F2-F189-0C542FAD5DBB}"/>
              </a:ext>
            </a:extLst>
          </p:cNvPr>
          <p:cNvSpPr/>
          <p:nvPr/>
        </p:nvSpPr>
        <p:spPr>
          <a:xfrm>
            <a:off x="2817739" y="3165551"/>
            <a:ext cx="360455" cy="223558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CDC0FACA-4799-FEAC-6F5A-B16FAF0CBC4F}"/>
              </a:ext>
            </a:extLst>
          </p:cNvPr>
          <p:cNvSpPr/>
          <p:nvPr/>
        </p:nvSpPr>
        <p:spPr>
          <a:xfrm>
            <a:off x="4231304" y="3171704"/>
            <a:ext cx="360455" cy="223558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BFF89FFD-7502-01AD-17F6-E5A80233FC4B}"/>
              </a:ext>
            </a:extLst>
          </p:cNvPr>
          <p:cNvSpPr/>
          <p:nvPr/>
        </p:nvSpPr>
        <p:spPr>
          <a:xfrm>
            <a:off x="5663602" y="3165551"/>
            <a:ext cx="360455" cy="223558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A98E785B-84D8-43E6-C882-2945635CF9C1}"/>
              </a:ext>
            </a:extLst>
          </p:cNvPr>
          <p:cNvSpPr/>
          <p:nvPr/>
        </p:nvSpPr>
        <p:spPr>
          <a:xfrm>
            <a:off x="7083156" y="3165551"/>
            <a:ext cx="360455" cy="223558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1747015" y="2948942"/>
            <a:ext cx="1074365" cy="656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5D"/>
                </a:solidFill>
              </a:rPr>
              <a:t>Parse dates</a:t>
            </a:r>
            <a:endParaRPr lang="en-US" sz="1200" b="1" dirty="0"/>
          </a:p>
        </p:txBody>
      </p:sp>
      <p:sp>
        <p:nvSpPr>
          <p:cNvPr id="12" name="Text 8"/>
          <p:cNvSpPr/>
          <p:nvPr/>
        </p:nvSpPr>
        <p:spPr>
          <a:xfrm>
            <a:off x="3178194" y="2960370"/>
            <a:ext cx="1005840" cy="656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5D"/>
                </a:solidFill>
              </a:rPr>
              <a:t>Convert to EOM</a:t>
            </a:r>
            <a:endParaRPr lang="en-US" sz="1200" b="1" dirty="0"/>
          </a:p>
        </p:txBody>
      </p:sp>
      <p:sp>
        <p:nvSpPr>
          <p:cNvPr id="15" name="Text 11"/>
          <p:cNvSpPr/>
          <p:nvPr/>
        </p:nvSpPr>
        <p:spPr>
          <a:xfrm>
            <a:off x="4613909" y="2974320"/>
            <a:ext cx="1005840" cy="616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5D"/>
                </a:solidFill>
              </a:rPr>
              <a:t>Filter 2020–2025</a:t>
            </a:r>
            <a:endParaRPr lang="en-US" sz="1200" b="1" dirty="0"/>
          </a:p>
        </p:txBody>
      </p:sp>
      <p:sp>
        <p:nvSpPr>
          <p:cNvPr id="18" name="Text 14"/>
          <p:cNvSpPr/>
          <p:nvPr/>
        </p:nvSpPr>
        <p:spPr>
          <a:xfrm>
            <a:off x="6024057" y="2962806"/>
            <a:ext cx="1005840" cy="591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5D"/>
                </a:solidFill>
              </a:rPr>
              <a:t>Resample BTC hourly</a:t>
            </a:r>
            <a:endParaRPr lang="en-US" sz="1200" b="1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E163FF28-B4AE-0B23-80FF-B1E1F92B545B}"/>
              </a:ext>
            </a:extLst>
          </p:cNvPr>
          <p:cNvSpPr/>
          <p:nvPr/>
        </p:nvSpPr>
        <p:spPr>
          <a:xfrm>
            <a:off x="7411831" y="303933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5D"/>
                </a:solidFill>
              </a:rPr>
              <a:t>Merge &amp; compute returns</a:t>
            </a:r>
            <a:endParaRPr lang="en-US" sz="1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BFD86C-D646-FD49-9BCA-EB3992B5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E6254F8-A40E-9854-F18C-DCC4F62F9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C3A51D4-49EE-0778-456F-660792A03427}"/>
              </a:ext>
            </a:extLst>
          </p:cNvPr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Libraries &amp; Tools Used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08ED910-91D6-8696-FFF5-4C87E01EC0FB}"/>
              </a:ext>
            </a:extLst>
          </p:cNvPr>
          <p:cNvSpPr/>
          <p:nvPr/>
        </p:nvSpPr>
        <p:spPr>
          <a:xfrm>
            <a:off x="457200" y="1005192"/>
            <a:ext cx="814853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Python 3.13.8 with </a:t>
            </a:r>
            <a:r>
              <a:rPr lang="en-ID" sz="2000" dirty="0" err="1"/>
              <a:t>Jupyter</a:t>
            </a:r>
            <a:r>
              <a:rPr lang="en-ID" sz="2000" dirty="0"/>
              <a:t> Notebooks for a reproducible workflow.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pandas &amp; NumPy for data wrangling, resampling BTC hourly data to month-end closes, and computing log returns.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SciPy (</a:t>
            </a:r>
            <a:r>
              <a:rPr lang="en-ID" sz="2000" dirty="0" err="1"/>
              <a:t>scipy.stats</a:t>
            </a:r>
            <a:r>
              <a:rPr lang="en-ID" sz="2000" dirty="0"/>
              <a:t>) for Pearson &amp; Spearman correlation, p-values, and Fisher r-to-z confidence intervals.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Custom bootstrap and robustness checks (</a:t>
            </a:r>
            <a:r>
              <a:rPr lang="en-ID" sz="2000" dirty="0" err="1"/>
              <a:t>winsorisation</a:t>
            </a:r>
            <a:r>
              <a:rPr lang="en-ID" sz="2000" dirty="0"/>
              <a:t>, jackknife) implemented in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Matplotlib for time-series plots, scatterplots, and rolling 6M/12M correlation charts.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Git &amp; GitHub to version raw/interim/processed data and keep the analysis pipeline transparent.</a:t>
            </a:r>
          </a:p>
        </p:txBody>
      </p:sp>
    </p:spTree>
    <p:extLst>
      <p:ext uri="{BB962C8B-B14F-4D97-AF65-F5344CB8AC3E}">
        <p14:creationId xmlns:p14="http://schemas.microsoft.com/office/powerpoint/2010/main" val="380887612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Visual Exploration: Price Dynamics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13" y="1307253"/>
            <a:ext cx="5391574" cy="26957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2648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39688B"/>
                </a:solidFill>
              </a:rPr>
              <a:t>Observation:
</a:t>
            </a:r>
            <a:r>
              <a:rPr lang="en-US" dirty="0">
                <a:solidFill>
                  <a:srgbClr val="333333"/>
                </a:solidFill>
              </a:rPr>
              <a:t>Bitcoin prices exhibit extreme volatility with explosive growth and crashes, while gold trends steadily upward. The scale differences motivate using log‑returns for analysis.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Visual Exploration: Monthly Returns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7280"/>
            <a:ext cx="4114800" cy="246888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097280"/>
            <a:ext cx="3931920" cy="24688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3749040"/>
            <a:ext cx="8229600" cy="1005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Overlay plot shows extreme monthly swings in Bitcoin and muted movements in gold.
Scatter plot (r ≈ –0.07, CI crosses 0) indicates weak linear relationship over the full period.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Full‑Period Correlation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90584"/>
              </p:ext>
            </p:extLst>
          </p:nvPr>
        </p:nvGraphicFramePr>
        <p:xfrm>
          <a:off x="457200" y="1280160"/>
          <a:ext cx="8038289" cy="1828800"/>
        </p:xfrm>
        <a:graphic>
          <a:graphicData uri="http://schemas.openxmlformats.org/drawingml/2006/table">
            <a:tbl>
              <a:tblPr/>
              <a:tblGrid>
                <a:gridCol w="1929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Statistic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Sample size (n)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66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Pearson 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-0.0686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p‑value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0.5841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95% CI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[−0.3056, 0.1764]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1" y="3255522"/>
            <a:ext cx="8038288" cy="1277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39688B"/>
                </a:solidFill>
              </a:rPr>
              <a:t>Interpretation:
</a:t>
            </a:r>
            <a:r>
              <a:rPr lang="en-US" dirty="0">
                <a:solidFill>
                  <a:srgbClr val="333333"/>
                </a:solidFill>
              </a:rPr>
              <a:t>The correlation between monthly log returns of Bitcoin and gold over the full 2020–2025 sample is weak (r ≈ –0.07) and statistically insignificant (p &gt; 0.5). The wide confidence interval encompasses zero, suggesting no stable linear relationship.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Rolling Correlation Analysis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3952672" cy="219456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128" y="1005840"/>
            <a:ext cx="3952672" cy="21945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800190"/>
              </p:ext>
            </p:extLst>
          </p:nvPr>
        </p:nvGraphicFramePr>
        <p:xfrm>
          <a:off x="457200" y="3383280"/>
          <a:ext cx="8229599" cy="1005840"/>
        </p:xfrm>
        <a:graphic>
          <a:graphicData uri="http://schemas.openxmlformats.org/drawingml/2006/table">
            <a:tbl>
              <a:tblPr/>
              <a:tblGrid>
                <a:gridCol w="1386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5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Window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333333"/>
                          </a:solidFill>
                        </a:rPr>
                        <a:t>Mean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333333"/>
                          </a:solidFill>
                        </a:rPr>
                        <a:t>Min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333333"/>
                          </a:solidFill>
                        </a:rPr>
                        <a:t>Max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% negative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6‑Month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-0.1063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−0.9095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0.8965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59%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12‑Month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-0.1591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−0.7576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0.5301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62%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1"/>
          <p:cNvSpPr/>
          <p:nvPr/>
        </p:nvSpPr>
        <p:spPr>
          <a:xfrm>
            <a:off x="457200" y="4389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39688B"/>
                </a:solidFill>
              </a:rPr>
              <a:t>Patterns: </a:t>
            </a:r>
            <a:r>
              <a:rPr lang="en-US" sz="1600" dirty="0">
                <a:solidFill>
                  <a:srgbClr val="333333"/>
                </a:solidFill>
              </a:rPr>
              <a:t>Most rolling windows yield negative correlations; negative regimes occur during late 2021/early 2022 and again in 2024–2025, whereas mid‑2023 displays positive correlation.</a:t>
            </a:r>
            <a:endParaRPr lang="en-US" sz="1600" dirty="0"/>
          </a:p>
        </p:txBody>
      </p:sp>
    </p:spTree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Sub‑Period Correlations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136856"/>
              </p:ext>
            </p:extLst>
          </p:nvPr>
        </p:nvGraphicFramePr>
        <p:xfrm>
          <a:off x="457199" y="1280160"/>
          <a:ext cx="7921558" cy="1828800"/>
        </p:xfrm>
        <a:graphic>
          <a:graphicData uri="http://schemas.openxmlformats.org/drawingml/2006/table">
            <a:tbl>
              <a:tblPr/>
              <a:tblGrid>
                <a:gridCol w="2731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3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Period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Pearson 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p‑value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2020–2021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-0.2177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≈ 0.32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2022–2023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0.2116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≈ 0.32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2024–2025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18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-0.3618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≈ 0.13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199" y="3108960"/>
            <a:ext cx="7921557" cy="1365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39688B"/>
                </a:solidFill>
              </a:rPr>
              <a:t>Observation:
</a:t>
            </a:r>
            <a:r>
              <a:rPr lang="en-US" dirty="0">
                <a:solidFill>
                  <a:srgbClr val="333333"/>
                </a:solidFill>
              </a:rPr>
              <a:t>The sign of the correlation flips across sub‑periods: negative during 2020–2021, positive in 2022–2023, and negative again in 2024–2025. None of the sub‑periods reach conventional significance (p ≥ 0.05).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Robustness Checks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43742"/>
              </p:ext>
            </p:extLst>
          </p:nvPr>
        </p:nvGraphicFramePr>
        <p:xfrm>
          <a:off x="457199" y="1097280"/>
          <a:ext cx="8155021" cy="2103120"/>
        </p:xfrm>
        <a:graphic>
          <a:graphicData uri="http://schemas.openxmlformats.org/drawingml/2006/table">
            <a:tbl>
              <a:tblPr/>
              <a:tblGrid>
                <a:gridCol w="370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8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Statistic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Pearson 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-0.0686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Fisher 95% CI (lo, hi)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[−0.3056, 0.1764]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Bootstrap 95% CI (lo, hi)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[−0.3108, 0.1955]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Spearman 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−0.0525 (p = 0.675)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Winsor &amp; Jackknife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No single observation dominates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383280"/>
            <a:ext cx="8155020" cy="1117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39688B"/>
                </a:solidFill>
              </a:rPr>
              <a:t>Takeaways:
</a:t>
            </a:r>
            <a:r>
              <a:rPr lang="en-US" dirty="0">
                <a:solidFill>
                  <a:srgbClr val="333333"/>
                </a:solidFill>
              </a:rPr>
              <a:t>Alternative measures (bootstrap, Spearman) corroborate the weak relationship. Winsorisation and jackknife analyses confirm that extreme months do not drive the result.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What I Learned from This Project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005192"/>
            <a:ext cx="814853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Technical skills: pandas for resampling, rolling window; matplotlib for custom themes; </a:t>
            </a:r>
            <a:r>
              <a:rPr lang="en-US" sz="2000" dirty="0" err="1">
                <a:solidFill>
                  <a:srgbClr val="333333"/>
                </a:solidFill>
              </a:rPr>
              <a:t>scipy</a:t>
            </a:r>
            <a:r>
              <a:rPr lang="en-US" sz="2000" dirty="0">
                <a:solidFill>
                  <a:srgbClr val="333333"/>
                </a:solidFill>
              </a:rPr>
              <a:t> for basic statistics.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Workflow: the importance of the raw → interim → processed → reports folder structure, and utilize GitHub.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Insight: the expectation of "Bitcoin = digital gold" is not automatically supported by data; it's important to check long-term data, not just specific periods in the media.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Time management</a:t>
            </a:r>
            <a:endParaRPr lang="en-US" sz="2000" dirty="0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Future Work &amp; Reflection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089499"/>
            <a:ext cx="8180962" cy="3054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Explore higher‑frequency data (daily/weekly) and additional assets (e.g.   S&amp;P 500, bonds) to contextualise correlations.
Investigate non‑linear dependence using models like DCC‑GARCH or copulas.
Reflect: building reproducible pipelines in Python emphasises the importance of clear data processing and visualising rolling statistics to reveal temporal dynamics.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</a:rPr>
              <a:t>Conclusions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063558"/>
            <a:ext cx="8229600" cy="3138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No evidence supports a stable “digital gold” correlation between Bitcoin and gold.
Correlations are regime‑dependent, switching from negative to positive across sub‑periods.
Any safe‑haven role of Bitcoin is episodic rather than persistent.
Limitations: sample size (~66 months), reliance on linear methods, and unmodelled macroeconomic factors (e.g. monetary policy, crises).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876</Words>
  <Application>Microsoft Office PowerPoint</Application>
  <PresentationFormat>On-screen Show (16:9)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Noveno Martin</cp:lastModifiedBy>
  <cp:revision>15</cp:revision>
  <dcterms:created xsi:type="dcterms:W3CDTF">2025-12-05T18:01:26Z</dcterms:created>
  <dcterms:modified xsi:type="dcterms:W3CDTF">2025-12-07T21:20:24Z</dcterms:modified>
</cp:coreProperties>
</file>