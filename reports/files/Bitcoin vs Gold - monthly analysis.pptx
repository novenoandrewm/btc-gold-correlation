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9" r:id="rId1"/>
  </p:sldMasterIdLst>
  <p:notesMasterIdLst>
    <p:notesMasterId r:id="rId15"/>
  </p:notesMasterIdLst>
  <p:sldIdLst>
    <p:sldId id="256" r:id="rId2"/>
    <p:sldId id="257" r:id="rId3"/>
    <p:sldId id="258" r:id="rId4"/>
    <p:sldId id="268" r:id="rId5"/>
    <p:sldId id="259" r:id="rId6"/>
    <p:sldId id="260" r:id="rId7"/>
    <p:sldId id="261" r:id="rId8"/>
    <p:sldId id="262" r:id="rId9"/>
    <p:sldId id="263" r:id="rId10"/>
    <p:sldId id="264" r:id="rId11"/>
    <p:sldId id="267" r:id="rId12"/>
    <p:sldId id="266" r:id="rId13"/>
    <p:sldId id="265" r:id="rId14"/>
  </p:sldIdLst>
  <p:sldSz cx="9144000" cy="5143500" type="screen16x9"/>
  <p:notesSz cx="51435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36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5T21:22:11.3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24575,'0'0'-8191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5T21:22:32.0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78043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B3B3C-EAA6-8494-7332-2BCF61A2B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549E96-7087-570B-6E64-2E0B370A98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52B3A2-AA7E-A643-49A5-76B6237E7E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BCED28-0EAA-3D06-EA88-E99BEC4D3C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1589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95B54-0F93-43ED-AF99-B55AC2C369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EFDE0D-86B3-4585-EB55-1CEF61B05A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1B10B1-4777-604E-DDFA-20ABED823A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12/7/2025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FEF77E-D397-8E13-A624-050C1048B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86B51F-EB40-00B9-FFD7-0A1A976B9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7012517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326A6-894C-D135-2074-A01FE19A9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F0DC1C-67E8-2CDA-4024-7F5305300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68F24C-AD90-BEB7-8EF3-AD5AEE927F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12/7/2025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BDACA4-E25D-53E4-C854-B0B0FC200A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329F6E-EDE2-8CD9-EE27-B14F6344A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7812637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DE137-5A6D-B263-4D51-4C59D1C233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500AFB-E5CE-5311-AABC-62F99A0E7F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73AF11-472F-C2AF-2563-D05114CE9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12/7/2025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D9C487-137A-0757-4FB3-6A76A6747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6FB049-9237-D34A-C222-8FDBF891D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8842259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3D70E-9AA2-E9AF-F946-E4BE08438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7DB1EC-449B-FEAB-A432-095CDB0809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D97812-DD9A-72A4-BBA0-E805B18BFB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9C6754-30DA-1BD3-7BEC-5750F4A3BD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12/7/2025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18D767-9762-B40F-5817-C618DBEA24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5464F4-97CF-0AEA-4960-F2E7DAC83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7673509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97B4D-B2DF-A487-F757-BD6523C13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EE44BD-ACBA-15A6-DD16-8FF70AD4E0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CE6BE2-5E86-38A5-B1AD-BE84A24A41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E84492B-86E0-FB3B-42B8-D92CD7833C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D5F8BA9-B5B1-D9F4-9BA2-A9984896C13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4633D36-C23D-8436-4C6B-E124AB5CFC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12/7/2025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569CBD-9C50-C3F9-0B00-055299F886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0160B5-A04E-667F-E567-59087A811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0552972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6A5C4F-8DC6-0DC4-D83B-2AD74220F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7652A1-04F4-B2ED-2452-55C05E24C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12/7/2025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47F723-F50A-9954-1743-6C572F0FC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D78B91-D72E-EC0C-82A9-2B805C54F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779647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8B6488-42D2-2A05-4EC0-996142BEEA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12/7/2025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2E98B1-E4B9-DB5E-2569-66FDB1F2F9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AC5EE0-FAF6-9899-AB09-F9C23132E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3505978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5AE728-F080-E7E1-06F7-6FA9E85A0E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F17670-4FB6-4D3F-43A5-CC90F1B64F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C8AF2C-0428-1BAD-18A8-4550B4F9D3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8DD45C-CB17-DD10-CC28-863AA6BC49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12/7/2025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383687-CFB6-D443-3988-8977E7B32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795269-1A3E-C7FB-BF15-3116E712B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936373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8FC5A9-3ADA-8FC4-E933-6C697D34A3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6B201F7-E882-FDD7-154D-6514790C85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F7F2F9-A134-C1AA-C4B8-EA306B456D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14402D-342D-87A5-3741-7714BEE43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12/7/2025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618AD2-6B6C-A26C-FAC8-8229484E7B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CCA5FC-C4DF-DFA3-4443-D209AB4FD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8712640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FF89E0-ED6F-D47C-FBF5-DEB1FEC96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55DDF6-9522-00CC-C7E9-28702A97AB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F911CF-5AB1-EEBA-D998-190036679C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12/7/2025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AB0E8-19C7-B547-F8EC-CC0372019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DDF548-FCEC-9489-B4D1-F5AEFC371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2176992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707ED7E-B192-1D86-2584-5CA4DF0E07C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55468FD-AE9B-BC58-A5C6-C282822383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20E013-803E-CBDE-D1EA-2CFEBFA7F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12/7/2025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A8578B-FAFF-0D02-0505-93531C7C5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F7D5ED-2F8B-3D6F-5265-C719FB1E3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4442016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6479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629E2D6-7ABE-98E7-8ED6-1F53D7942F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D93D6A-631B-0E15-B7C2-50EF7FE556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9E6834-7C67-9CBF-DDE7-8968091BD8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12/7/2025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499883-221E-1003-DF61-71E95C0314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29783F-5D3D-9A6D-896F-D5F1135101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90948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01" r:id="rId12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customXml" Target="../ink/ink2.xml"/><Relationship Id="rId5" Type="http://schemas.openxmlformats.org/officeDocument/2006/relationships/image" Target="../media/image2.png"/><Relationship Id="rId4" Type="http://schemas.openxmlformats.org/officeDocument/2006/relationships/customXml" Target="../ink/ink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457200"/>
            <a:ext cx="4572000" cy="4114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700393"/>
            <a:ext cx="358950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B3C5D"/>
                </a:solidFill>
              </a:rPr>
              <a:t>Bitcoin vs Gold</a:t>
            </a:r>
            <a:endParaRPr lang="en-US" sz="3600" dirty="0"/>
          </a:p>
          <a:p>
            <a:pPr marL="0" indent="0" algn="l">
              <a:buNone/>
            </a:pPr>
            <a:r>
              <a:rPr lang="en-US" sz="2000" dirty="0">
                <a:solidFill>
                  <a:srgbClr val="39688B"/>
                </a:solidFill>
              </a:rPr>
              <a:t>2020–2025 Monthly Correlation Analysis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457200" y="2788596"/>
            <a:ext cx="3414409" cy="538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Noveno Andrew Martin</a:t>
            </a:r>
          </a:p>
          <a:p>
            <a:pPr marL="0" indent="0" algn="l">
              <a:buNone/>
            </a:pPr>
            <a:endParaRPr lang="en-US" sz="1400" dirty="0"/>
          </a:p>
          <a:p>
            <a:pPr marL="0" indent="0" algn="l">
              <a:buNone/>
            </a:pPr>
            <a:r>
              <a:rPr lang="en-US" sz="1600" i="1" dirty="0">
                <a:solidFill>
                  <a:schemeClr val="accent2">
                    <a:lumMod val="75000"/>
                  </a:schemeClr>
                </a:solidFill>
              </a:rPr>
              <a:t>Testing the “digital gold” hypothesis via monthly log returns.</a:t>
            </a:r>
            <a:endParaRPr lang="en-US" sz="1600" dirty="0">
              <a:solidFill>
                <a:schemeClr val="accent2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D8F061E-908D-C8BB-7B9D-1E512AA99E98}"/>
                  </a:ext>
                </a:extLst>
              </p14:cNvPr>
              <p14:cNvContentPartPr/>
              <p14:nvPr/>
            </p14:nvContentPartPr>
            <p14:xfrm>
              <a:off x="453860" y="447043"/>
              <a:ext cx="360" cy="3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D8F061E-908D-C8BB-7B9D-1E512AA99E9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47740" y="440923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AEC04B97-4E21-9EBE-1514-06E8D0C62792}"/>
                  </a:ext>
                </a:extLst>
              </p14:cNvPr>
              <p14:cNvContentPartPr/>
              <p14:nvPr/>
            </p14:nvContentPartPr>
            <p14:xfrm>
              <a:off x="1627460" y="350203"/>
              <a:ext cx="360" cy="36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AEC04B97-4E21-9EBE-1514-06E8D0C6279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21340" y="344083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doors dir="ver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4114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3C5D"/>
                </a:solidFill>
              </a:rPr>
              <a:t>Research Questions &amp; Objectives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457200" y="1097280"/>
            <a:ext cx="8229600" cy="31958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r>
              <a:rPr lang="en-US" sz="2000" b="1" dirty="0">
                <a:solidFill>
                  <a:srgbClr val="39688B"/>
                </a:solidFill>
              </a:rPr>
              <a:t>Main Question:
</a:t>
            </a:r>
            <a:r>
              <a:rPr lang="en-US" sz="2000" dirty="0">
                <a:solidFill>
                  <a:srgbClr val="333333"/>
                </a:solidFill>
              </a:rPr>
              <a:t>Is there a stable linear relationship between monthly gold and Bitcoin returns?
</a:t>
            </a:r>
            <a:r>
              <a:rPr lang="en-US" sz="2000" b="1" dirty="0">
                <a:solidFill>
                  <a:srgbClr val="39688B"/>
                </a:solidFill>
              </a:rPr>
              <a:t>Specific Objectives: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Measure full‑period correlation with 95% CI
Examine time‑varying correlation via 6‑ and 12‑month rolling windows
Compare correlations across sub‑periods (2020–2021, 2022–2023, 2024–2025)
Assess robustness using Spearman, bootstrap CI, winsorization &amp; jackknife</a:t>
            </a:r>
            <a:endParaRPr lang="en-US" sz="2000" dirty="0"/>
          </a:p>
        </p:txBody>
      </p:sp>
    </p:spTree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65760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6576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3C5D"/>
                </a:solidFill>
              </a:rPr>
              <a:t>Data Sources &amp; Processing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7966162"/>
              </p:ext>
            </p:extLst>
          </p:nvPr>
        </p:nvGraphicFramePr>
        <p:xfrm>
          <a:off x="457200" y="1280161"/>
          <a:ext cx="7909562" cy="1303020"/>
        </p:xfrm>
        <a:graphic>
          <a:graphicData uri="http://schemas.openxmlformats.org/drawingml/2006/table">
            <a:tbl>
              <a:tblPr/>
              <a:tblGrid>
                <a:gridCol w="24717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1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21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39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053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333333"/>
                          </a:solidFill>
                        </a:rPr>
                        <a:t>Dataset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333333"/>
                          </a:solidFill>
                        </a:rPr>
                        <a:t>Provider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333333"/>
                          </a:solidFill>
                        </a:rPr>
                        <a:t>Frequency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333333"/>
                          </a:solidFill>
                        </a:rPr>
                        <a:t>Licence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053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Gold prices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DataHub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Monthly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PDDL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 OHLCV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M. Jaouhari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Hourly → Monthly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MIT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456751" y="2937510"/>
            <a:ext cx="861061" cy="668208"/>
          </a:xfrm>
          <a:prstGeom prst="roundRect">
            <a:avLst>
              <a:gd name="adj" fmla="val 20000"/>
            </a:avLst>
          </a:prstGeom>
          <a:solidFill>
            <a:srgbClr val="E5EEF8"/>
          </a:solidFill>
          <a:ln w="12700">
            <a:solidFill>
              <a:srgbClr val="A0C4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2"/>
          <p:cNvSpPr/>
          <p:nvPr/>
        </p:nvSpPr>
        <p:spPr>
          <a:xfrm>
            <a:off x="384361" y="2960370"/>
            <a:ext cx="1005840" cy="6682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3C5D"/>
                </a:solidFill>
              </a:rPr>
              <a:t>Load raw CSV</a:t>
            </a:r>
            <a:endParaRPr lang="en-US" sz="1200" b="1" dirty="0"/>
          </a:p>
        </p:txBody>
      </p:sp>
      <p:sp>
        <p:nvSpPr>
          <p:cNvPr id="22" name="Text 18"/>
          <p:cNvSpPr/>
          <p:nvPr/>
        </p:nvSpPr>
        <p:spPr>
          <a:xfrm>
            <a:off x="456751" y="3761929"/>
            <a:ext cx="7910011" cy="946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r>
              <a:rPr lang="en-US" b="1" dirty="0">
                <a:solidFill>
                  <a:srgbClr val="39688B"/>
                </a:solidFill>
              </a:rPr>
              <a:t>Processed dataset: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</a:rPr>
              <a:t>66 monthly observations (Feb 2020 – Jul 2025) stored in data/processed/. 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</a:rPr>
              <a:t>Intermediate files reside in data/interim/.</a:t>
            </a:r>
            <a:endParaRPr lang="en-US" dirty="0"/>
          </a:p>
        </p:txBody>
      </p:sp>
      <p:sp>
        <p:nvSpPr>
          <p:cNvPr id="31" name="Shape 3">
            <a:extLst>
              <a:ext uri="{FF2B5EF4-FFF2-40B4-BE49-F238E27FC236}">
                <a16:creationId xmlns:a16="http://schemas.microsoft.com/office/drawing/2014/main" id="{9FA933C9-C582-3B11-1943-5CF75BCEB98A}"/>
              </a:ext>
            </a:extLst>
          </p:cNvPr>
          <p:cNvSpPr/>
          <p:nvPr/>
        </p:nvSpPr>
        <p:spPr>
          <a:xfrm>
            <a:off x="1446278" y="3182694"/>
            <a:ext cx="360455" cy="223558"/>
          </a:xfrm>
          <a:prstGeom prst="rightArrow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1">
            <a:extLst>
              <a:ext uri="{FF2B5EF4-FFF2-40B4-BE49-F238E27FC236}">
                <a16:creationId xmlns:a16="http://schemas.microsoft.com/office/drawing/2014/main" id="{4D07AD05-AD25-60D7-931A-787F80D74EA3}"/>
              </a:ext>
            </a:extLst>
          </p:cNvPr>
          <p:cNvSpPr/>
          <p:nvPr/>
        </p:nvSpPr>
        <p:spPr>
          <a:xfrm>
            <a:off x="1866451" y="2937510"/>
            <a:ext cx="861061" cy="668208"/>
          </a:xfrm>
          <a:prstGeom prst="roundRect">
            <a:avLst>
              <a:gd name="adj" fmla="val 20000"/>
            </a:avLst>
          </a:prstGeom>
          <a:solidFill>
            <a:srgbClr val="E5EEF8"/>
          </a:solidFill>
          <a:ln w="12700">
            <a:solidFill>
              <a:srgbClr val="A0C4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1">
            <a:extLst>
              <a:ext uri="{FF2B5EF4-FFF2-40B4-BE49-F238E27FC236}">
                <a16:creationId xmlns:a16="http://schemas.microsoft.com/office/drawing/2014/main" id="{651A8DAD-4025-4FB1-E8CC-8E07EB7EF2DD}"/>
              </a:ext>
            </a:extLst>
          </p:cNvPr>
          <p:cNvSpPr/>
          <p:nvPr/>
        </p:nvSpPr>
        <p:spPr>
          <a:xfrm>
            <a:off x="3276151" y="2937509"/>
            <a:ext cx="861061" cy="668209"/>
          </a:xfrm>
          <a:prstGeom prst="roundRect">
            <a:avLst>
              <a:gd name="adj" fmla="val 20000"/>
            </a:avLst>
          </a:prstGeom>
          <a:solidFill>
            <a:srgbClr val="E5EEF8"/>
          </a:solidFill>
          <a:ln w="12700">
            <a:solidFill>
              <a:srgbClr val="A0C4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1">
            <a:extLst>
              <a:ext uri="{FF2B5EF4-FFF2-40B4-BE49-F238E27FC236}">
                <a16:creationId xmlns:a16="http://schemas.microsoft.com/office/drawing/2014/main" id="{5AECC536-E8CE-5223-85C8-A1CCB0481BE4}"/>
              </a:ext>
            </a:extLst>
          </p:cNvPr>
          <p:cNvSpPr/>
          <p:nvPr/>
        </p:nvSpPr>
        <p:spPr>
          <a:xfrm>
            <a:off x="4686299" y="2937510"/>
            <a:ext cx="861061" cy="616328"/>
          </a:xfrm>
          <a:prstGeom prst="roundRect">
            <a:avLst>
              <a:gd name="adj" fmla="val 20000"/>
            </a:avLst>
          </a:prstGeom>
          <a:solidFill>
            <a:srgbClr val="E5EEF8"/>
          </a:solidFill>
          <a:ln w="12700">
            <a:solidFill>
              <a:srgbClr val="A0C4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1">
            <a:extLst>
              <a:ext uri="{FF2B5EF4-FFF2-40B4-BE49-F238E27FC236}">
                <a16:creationId xmlns:a16="http://schemas.microsoft.com/office/drawing/2014/main" id="{2E663EA2-C514-DE47-C387-40C8C8777633}"/>
              </a:ext>
            </a:extLst>
          </p:cNvPr>
          <p:cNvSpPr/>
          <p:nvPr/>
        </p:nvSpPr>
        <p:spPr>
          <a:xfrm>
            <a:off x="6095999" y="2937510"/>
            <a:ext cx="861061" cy="616328"/>
          </a:xfrm>
          <a:prstGeom prst="roundRect">
            <a:avLst>
              <a:gd name="adj" fmla="val 20000"/>
            </a:avLst>
          </a:prstGeom>
          <a:solidFill>
            <a:srgbClr val="E5EEF8"/>
          </a:solidFill>
          <a:ln w="12700">
            <a:solidFill>
              <a:srgbClr val="A0C4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1">
            <a:extLst>
              <a:ext uri="{FF2B5EF4-FFF2-40B4-BE49-F238E27FC236}">
                <a16:creationId xmlns:a16="http://schemas.microsoft.com/office/drawing/2014/main" id="{7A782EBD-D3FB-F738-798A-69982562D171}"/>
              </a:ext>
            </a:extLst>
          </p:cNvPr>
          <p:cNvSpPr/>
          <p:nvPr/>
        </p:nvSpPr>
        <p:spPr>
          <a:xfrm>
            <a:off x="7505699" y="2937510"/>
            <a:ext cx="861061" cy="616328"/>
          </a:xfrm>
          <a:prstGeom prst="roundRect">
            <a:avLst>
              <a:gd name="adj" fmla="val 20000"/>
            </a:avLst>
          </a:prstGeom>
          <a:solidFill>
            <a:srgbClr val="E5EEF8"/>
          </a:solidFill>
          <a:ln w="12700">
            <a:solidFill>
              <a:srgbClr val="A0C4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3">
            <a:extLst>
              <a:ext uri="{FF2B5EF4-FFF2-40B4-BE49-F238E27FC236}">
                <a16:creationId xmlns:a16="http://schemas.microsoft.com/office/drawing/2014/main" id="{3236456B-A3A0-E7F2-F189-0C542FAD5DBB}"/>
              </a:ext>
            </a:extLst>
          </p:cNvPr>
          <p:cNvSpPr/>
          <p:nvPr/>
        </p:nvSpPr>
        <p:spPr>
          <a:xfrm>
            <a:off x="2817739" y="3165551"/>
            <a:ext cx="360455" cy="223558"/>
          </a:xfrm>
          <a:prstGeom prst="rightArrow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3">
            <a:extLst>
              <a:ext uri="{FF2B5EF4-FFF2-40B4-BE49-F238E27FC236}">
                <a16:creationId xmlns:a16="http://schemas.microsoft.com/office/drawing/2014/main" id="{CDC0FACA-4799-FEAC-6F5A-B16FAF0CBC4F}"/>
              </a:ext>
            </a:extLst>
          </p:cNvPr>
          <p:cNvSpPr/>
          <p:nvPr/>
        </p:nvSpPr>
        <p:spPr>
          <a:xfrm>
            <a:off x="4231304" y="3171704"/>
            <a:ext cx="360455" cy="223558"/>
          </a:xfrm>
          <a:prstGeom prst="rightArrow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3">
            <a:extLst>
              <a:ext uri="{FF2B5EF4-FFF2-40B4-BE49-F238E27FC236}">
                <a16:creationId xmlns:a16="http://schemas.microsoft.com/office/drawing/2014/main" id="{BFF89FFD-7502-01AD-17F6-E5A80233FC4B}"/>
              </a:ext>
            </a:extLst>
          </p:cNvPr>
          <p:cNvSpPr/>
          <p:nvPr/>
        </p:nvSpPr>
        <p:spPr>
          <a:xfrm>
            <a:off x="5663602" y="3165551"/>
            <a:ext cx="360455" cy="223558"/>
          </a:xfrm>
          <a:prstGeom prst="rightArrow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">
            <a:extLst>
              <a:ext uri="{FF2B5EF4-FFF2-40B4-BE49-F238E27FC236}">
                <a16:creationId xmlns:a16="http://schemas.microsoft.com/office/drawing/2014/main" id="{A98E785B-84D8-43E6-C882-2945635CF9C1}"/>
              </a:ext>
            </a:extLst>
          </p:cNvPr>
          <p:cNvSpPr/>
          <p:nvPr/>
        </p:nvSpPr>
        <p:spPr>
          <a:xfrm>
            <a:off x="7083156" y="3165551"/>
            <a:ext cx="360455" cy="223558"/>
          </a:xfrm>
          <a:prstGeom prst="rightArrow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5"/>
          <p:cNvSpPr/>
          <p:nvPr/>
        </p:nvSpPr>
        <p:spPr>
          <a:xfrm>
            <a:off x="1747015" y="2948942"/>
            <a:ext cx="1074365" cy="656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3C5D"/>
                </a:solidFill>
              </a:rPr>
              <a:t>Parse dates</a:t>
            </a:r>
            <a:endParaRPr lang="en-US" sz="1200" b="1" dirty="0"/>
          </a:p>
        </p:txBody>
      </p:sp>
      <p:sp>
        <p:nvSpPr>
          <p:cNvPr id="12" name="Text 8"/>
          <p:cNvSpPr/>
          <p:nvPr/>
        </p:nvSpPr>
        <p:spPr>
          <a:xfrm>
            <a:off x="3178194" y="2960370"/>
            <a:ext cx="1005840" cy="6567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3C5D"/>
                </a:solidFill>
              </a:rPr>
              <a:t>Convert to EOM</a:t>
            </a:r>
            <a:endParaRPr lang="en-US" sz="1200" b="1" dirty="0"/>
          </a:p>
        </p:txBody>
      </p:sp>
      <p:sp>
        <p:nvSpPr>
          <p:cNvPr id="15" name="Text 11"/>
          <p:cNvSpPr/>
          <p:nvPr/>
        </p:nvSpPr>
        <p:spPr>
          <a:xfrm>
            <a:off x="4613909" y="2974320"/>
            <a:ext cx="1005840" cy="61632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3C5D"/>
                </a:solidFill>
              </a:rPr>
              <a:t>Filter 2020–2025</a:t>
            </a:r>
            <a:endParaRPr lang="en-US" sz="1200" b="1" dirty="0"/>
          </a:p>
        </p:txBody>
      </p:sp>
      <p:sp>
        <p:nvSpPr>
          <p:cNvPr id="18" name="Text 14"/>
          <p:cNvSpPr/>
          <p:nvPr/>
        </p:nvSpPr>
        <p:spPr>
          <a:xfrm>
            <a:off x="6024057" y="2962806"/>
            <a:ext cx="1005840" cy="59103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3C5D"/>
                </a:solidFill>
              </a:rPr>
              <a:t>Resample BTC hourly</a:t>
            </a:r>
            <a:endParaRPr lang="en-US" sz="1200" b="1" dirty="0"/>
          </a:p>
        </p:txBody>
      </p:sp>
      <p:sp>
        <p:nvSpPr>
          <p:cNvPr id="37" name="Text 17">
            <a:extLst>
              <a:ext uri="{FF2B5EF4-FFF2-40B4-BE49-F238E27FC236}">
                <a16:creationId xmlns:a16="http://schemas.microsoft.com/office/drawing/2014/main" id="{E163FF28-B4AE-0B23-80FF-B1E1F92B545B}"/>
              </a:ext>
            </a:extLst>
          </p:cNvPr>
          <p:cNvSpPr/>
          <p:nvPr/>
        </p:nvSpPr>
        <p:spPr>
          <a:xfrm>
            <a:off x="7411831" y="3039336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3C5D"/>
                </a:solidFill>
              </a:rPr>
              <a:t>Merge &amp; compute returns</a:t>
            </a:r>
            <a:endParaRPr lang="en-US" sz="1200" b="1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3BFD86C-D646-FD49-9BCA-EB3992B52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3E6254F8-A40E-9854-F18C-DCC4F62F9B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65760"/>
            <a:ext cx="457200" cy="4572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EC3A51D4-49EE-0778-456F-660792A03427}"/>
              </a:ext>
            </a:extLst>
          </p:cNvPr>
          <p:cNvSpPr/>
          <p:nvPr/>
        </p:nvSpPr>
        <p:spPr>
          <a:xfrm>
            <a:off x="914400" y="36576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3C5D"/>
                </a:solidFill>
              </a:rPr>
              <a:t>Libraries &amp; Tools Used</a:t>
            </a:r>
            <a:endParaRPr lang="en-US" sz="24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908ED910-91D6-8696-FFF5-4C87E01EC0FB}"/>
              </a:ext>
            </a:extLst>
          </p:cNvPr>
          <p:cNvSpPr/>
          <p:nvPr/>
        </p:nvSpPr>
        <p:spPr>
          <a:xfrm>
            <a:off x="457200" y="1005192"/>
            <a:ext cx="8148536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D" sz="2000" dirty="0"/>
              <a:t>Python 3.13.8 with </a:t>
            </a:r>
            <a:r>
              <a:rPr lang="en-ID" sz="2000" dirty="0" err="1"/>
              <a:t>Jupyter</a:t>
            </a:r>
            <a:r>
              <a:rPr lang="en-ID" sz="2000" dirty="0"/>
              <a:t> Notebooks for a reproducible workflow.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D" sz="2000" dirty="0"/>
              <a:t>pandas &amp; NumPy for data wrangling, resampling BTC hourly data to month-end closes, and computing log returns.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D" sz="2000" dirty="0"/>
              <a:t>SciPy (</a:t>
            </a:r>
            <a:r>
              <a:rPr lang="en-ID" sz="2000" dirty="0" err="1"/>
              <a:t>scipy.stats</a:t>
            </a:r>
            <a:r>
              <a:rPr lang="en-ID" sz="2000" dirty="0"/>
              <a:t>) for Pearson &amp; Spearman correlation, p-values, and Fisher r-to-z confidence intervals.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D" sz="2000" dirty="0"/>
              <a:t>Custom bootstrap and robustness checks (</a:t>
            </a:r>
            <a:r>
              <a:rPr lang="en-ID" sz="2000" dirty="0" err="1"/>
              <a:t>winsorisation</a:t>
            </a:r>
            <a:r>
              <a:rPr lang="en-ID" sz="2000" dirty="0"/>
              <a:t>, jackknife) implemented in Python.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D" sz="2000" dirty="0"/>
              <a:t>Matplotlib for time-series plots, scatterplots, and rolling 6M/12M correlation charts.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D" sz="2000" dirty="0"/>
              <a:t>Git &amp; GitHub to version raw/interim/processed data and keep the analysis pipeline transparent.</a:t>
            </a:r>
          </a:p>
        </p:txBody>
      </p:sp>
    </p:spTree>
    <p:extLst>
      <p:ext uri="{BB962C8B-B14F-4D97-AF65-F5344CB8AC3E}">
        <p14:creationId xmlns:p14="http://schemas.microsoft.com/office/powerpoint/2010/main" val="3808876125"/>
      </p:ext>
    </p:extLst>
  </p:cSld>
  <p:clrMapOvr>
    <a:masterClrMapping/>
  </p:clrMapOvr>
  <p:transition spd="slow">
    <p:cov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65760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6576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3C5D"/>
                </a:solidFill>
              </a:rPr>
              <a:t>Visual Exploration: Price Dynamics</a:t>
            </a:r>
            <a:endParaRPr lang="en-US" sz="24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613" y="1307253"/>
            <a:ext cx="5391574" cy="26957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126480" y="1371600"/>
            <a:ext cx="2743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b="1" dirty="0">
                <a:solidFill>
                  <a:srgbClr val="39688B"/>
                </a:solidFill>
              </a:rPr>
              <a:t>Observation:
</a:t>
            </a:r>
            <a:r>
              <a:rPr lang="en-US" dirty="0">
                <a:solidFill>
                  <a:srgbClr val="333333"/>
                </a:solidFill>
              </a:rPr>
              <a:t>Bitcoin prices exhibit extreme volatility with explosive growth and crashes, while gold trends steadily upward. The scale differences motivate using log‑returns for analysis.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65760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6576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3C5D"/>
                </a:solidFill>
              </a:rPr>
              <a:t>Visual Exploration: Monthly Returns</a:t>
            </a:r>
            <a:endParaRPr lang="en-US" sz="24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97280"/>
            <a:ext cx="4114800" cy="2468880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1097280"/>
            <a:ext cx="3931920" cy="24688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457200" y="3749040"/>
            <a:ext cx="8229600" cy="10058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</a:rPr>
              <a:t>Overlay plot shows extreme monthly swings in Bitcoin and muted movements in gold.
Scatter plot (r ≈ –0.07, CI crosses 0) indicates weak linear relationship over the full period.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flip dir="r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65760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6576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3C5D"/>
                </a:solidFill>
              </a:rPr>
              <a:t>Full‑Period Correlation</a:t>
            </a:r>
            <a:endParaRPr lang="en-US" sz="2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3590584"/>
              </p:ext>
            </p:extLst>
          </p:nvPr>
        </p:nvGraphicFramePr>
        <p:xfrm>
          <a:off x="457200" y="1280160"/>
          <a:ext cx="8038289" cy="1828800"/>
        </p:xfrm>
        <a:graphic>
          <a:graphicData uri="http://schemas.openxmlformats.org/drawingml/2006/table">
            <a:tbl>
              <a:tblPr/>
              <a:tblGrid>
                <a:gridCol w="19293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089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333333"/>
                          </a:solidFill>
                        </a:rPr>
                        <a:t>Statistic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333333"/>
                          </a:solidFill>
                        </a:rPr>
                        <a:t>Value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Sample size (n)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66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Pearson r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-0.0686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p‑value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0.5841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95% CI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[−0.3056, 0.1764]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1"/>
          <p:cNvSpPr/>
          <p:nvPr/>
        </p:nvSpPr>
        <p:spPr>
          <a:xfrm>
            <a:off x="457201" y="3255522"/>
            <a:ext cx="8038288" cy="127756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b="1" dirty="0">
                <a:solidFill>
                  <a:srgbClr val="39688B"/>
                </a:solidFill>
              </a:rPr>
              <a:t>Interpretation:
</a:t>
            </a:r>
            <a:r>
              <a:rPr lang="en-US" dirty="0">
                <a:solidFill>
                  <a:srgbClr val="333333"/>
                </a:solidFill>
              </a:rPr>
              <a:t>The correlation between monthly log returns of Bitcoin and gold over the full 2020–2025 sample is weak (r ≈ –0.07) and statistically insignificant (p &gt; 0.5). The wide confidence interval encompasses zero, suggesting no stable linear relationship.</a:t>
            </a:r>
            <a:endParaRPr lang="en-US" dirty="0"/>
          </a:p>
        </p:txBody>
      </p:sp>
    </p:spTree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65760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6576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3C5D"/>
                </a:solidFill>
              </a:rPr>
              <a:t>Rolling Correlation Analysis</a:t>
            </a:r>
            <a:endParaRPr lang="en-US" sz="24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05840"/>
            <a:ext cx="3952672" cy="2194560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4128" y="1005840"/>
            <a:ext cx="3952672" cy="219456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0800190"/>
              </p:ext>
            </p:extLst>
          </p:nvPr>
        </p:nvGraphicFramePr>
        <p:xfrm>
          <a:off x="457200" y="3383280"/>
          <a:ext cx="8229599" cy="1005840"/>
        </p:xfrm>
        <a:graphic>
          <a:graphicData uri="http://schemas.openxmlformats.org/drawingml/2006/table">
            <a:tbl>
              <a:tblPr/>
              <a:tblGrid>
                <a:gridCol w="13860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2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726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726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2556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274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333333"/>
                          </a:solidFill>
                        </a:rPr>
                        <a:t>Window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>
                          <a:solidFill>
                            <a:srgbClr val="333333"/>
                          </a:solidFill>
                        </a:rPr>
                        <a:t>Mean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>
                          <a:solidFill>
                            <a:srgbClr val="333333"/>
                          </a:solidFill>
                        </a:rPr>
                        <a:t>Min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>
                          <a:solidFill>
                            <a:srgbClr val="333333"/>
                          </a:solidFill>
                        </a:rPr>
                        <a:t>Max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333333"/>
                          </a:solidFill>
                        </a:rPr>
                        <a:t>% negative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274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>
                          <a:solidFill>
                            <a:srgbClr val="333333"/>
                          </a:solidFill>
                        </a:rPr>
                        <a:t>6‑Month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-0.1063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>
                          <a:solidFill>
                            <a:srgbClr val="333333"/>
                          </a:solidFill>
                        </a:rPr>
                        <a:t>−0.9095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>
                          <a:solidFill>
                            <a:srgbClr val="333333"/>
                          </a:solidFill>
                        </a:rPr>
                        <a:t>0.8965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>
                          <a:solidFill>
                            <a:srgbClr val="333333"/>
                          </a:solidFill>
                        </a:rPr>
                        <a:t>59%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74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>
                          <a:solidFill>
                            <a:srgbClr val="333333"/>
                          </a:solidFill>
                        </a:rPr>
                        <a:t>12‑Month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>
                          <a:solidFill>
                            <a:srgbClr val="333333"/>
                          </a:solidFill>
                        </a:rPr>
                        <a:t>-0.1591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−0.7576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>
                          <a:solidFill>
                            <a:srgbClr val="333333"/>
                          </a:solidFill>
                        </a:rPr>
                        <a:t>0.5301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62%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 1"/>
          <p:cNvSpPr/>
          <p:nvPr/>
        </p:nvSpPr>
        <p:spPr>
          <a:xfrm>
            <a:off x="457200" y="43891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1600" b="1" dirty="0">
                <a:solidFill>
                  <a:srgbClr val="39688B"/>
                </a:solidFill>
              </a:rPr>
              <a:t>Patterns: </a:t>
            </a:r>
            <a:r>
              <a:rPr lang="en-US" sz="1600" dirty="0">
                <a:solidFill>
                  <a:srgbClr val="333333"/>
                </a:solidFill>
              </a:rPr>
              <a:t>Most rolling windows yield negative correlations; negative regimes occur during late 2021/early 2022 and again in 2024–2025, whereas mid‑2023 displays positive correlation.</a:t>
            </a:r>
            <a:endParaRPr lang="en-US" sz="1600" dirty="0"/>
          </a:p>
        </p:txBody>
      </p:sp>
    </p:spTree>
  </p:cSld>
  <p:clrMapOvr>
    <a:masterClrMapping/>
  </p:clrMapOvr>
  <p:transition spd="slow">
    <p:wheel spokes="1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65760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6576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3C5D"/>
                </a:solidFill>
              </a:rPr>
              <a:t>Sub‑Period Correlations</a:t>
            </a:r>
            <a:endParaRPr lang="en-US" sz="2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7136856"/>
              </p:ext>
            </p:extLst>
          </p:nvPr>
        </p:nvGraphicFramePr>
        <p:xfrm>
          <a:off x="457199" y="1280160"/>
          <a:ext cx="7921558" cy="1828800"/>
        </p:xfrm>
        <a:graphic>
          <a:graphicData uri="http://schemas.openxmlformats.org/drawingml/2006/table">
            <a:tbl>
              <a:tblPr/>
              <a:tblGrid>
                <a:gridCol w="27315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79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233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486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333333"/>
                          </a:solidFill>
                        </a:rPr>
                        <a:t>Period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333333"/>
                          </a:solidFill>
                        </a:rPr>
                        <a:t>n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333333"/>
                          </a:solidFill>
                        </a:rPr>
                        <a:t>Pearson r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333333"/>
                          </a:solidFill>
                        </a:rPr>
                        <a:t>p‑value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2020–2021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24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-0.2177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≈ 0.32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2022–2023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24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0.2116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≈ 0.32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2024–2025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18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-0.3618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≈ 0.13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1"/>
          <p:cNvSpPr/>
          <p:nvPr/>
        </p:nvSpPr>
        <p:spPr>
          <a:xfrm>
            <a:off x="457199" y="3108960"/>
            <a:ext cx="7921557" cy="13657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b="1" dirty="0">
                <a:solidFill>
                  <a:srgbClr val="39688B"/>
                </a:solidFill>
              </a:rPr>
              <a:t>Observation:
</a:t>
            </a:r>
            <a:r>
              <a:rPr lang="en-US" dirty="0">
                <a:solidFill>
                  <a:srgbClr val="333333"/>
                </a:solidFill>
              </a:rPr>
              <a:t>The sign of the correlation flips across sub‑periods: negative during 2020–2021, positive in 2022–2023, and negative again in 2024–2025. None of the sub‑periods reach conventional significance (p ≥ 0.05).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65760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6576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3C5D"/>
                </a:solidFill>
              </a:rPr>
              <a:t>Robustness Checks</a:t>
            </a:r>
            <a:endParaRPr lang="en-US" sz="2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043742"/>
              </p:ext>
            </p:extLst>
          </p:nvPr>
        </p:nvGraphicFramePr>
        <p:xfrm>
          <a:off x="457199" y="1097280"/>
          <a:ext cx="8155021" cy="2103120"/>
        </p:xfrm>
        <a:graphic>
          <a:graphicData uri="http://schemas.openxmlformats.org/drawingml/2006/table">
            <a:tbl>
              <a:tblPr/>
              <a:tblGrid>
                <a:gridCol w="37068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481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0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333333"/>
                          </a:solidFill>
                        </a:rPr>
                        <a:t>Method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333333"/>
                          </a:solidFill>
                        </a:rPr>
                        <a:t>Statistic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Pearson r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-0.0686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Fisher 95% CI (lo, hi)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[−0.3056, 0.1764]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Bootstrap 95% CI (lo, hi)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[−0.3108, 0.1955]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Spearman ρ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−0.0525 (p = 0.675)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Winsor &amp; Jackknife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No single observation dominates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1"/>
          <p:cNvSpPr/>
          <p:nvPr/>
        </p:nvSpPr>
        <p:spPr>
          <a:xfrm>
            <a:off x="457200" y="3383280"/>
            <a:ext cx="8155020" cy="1117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b="1" dirty="0">
                <a:solidFill>
                  <a:srgbClr val="39688B"/>
                </a:solidFill>
              </a:rPr>
              <a:t>Takeaways:
</a:t>
            </a:r>
            <a:r>
              <a:rPr lang="en-US" dirty="0">
                <a:solidFill>
                  <a:srgbClr val="333333"/>
                </a:solidFill>
              </a:rPr>
              <a:t>Alternative measures (bootstrap, Spearman) corroborate the weak relationship. Winsorisation and jackknife analyses confirm that extreme months do not drive the result.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65760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6576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3C5D"/>
                </a:solidFill>
              </a:rPr>
              <a:t>What I Learned from This Project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457200" y="1005192"/>
            <a:ext cx="8148536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Technical skills: pandas for resampling, rolling window; matplotlib for custom themes; </a:t>
            </a:r>
            <a:r>
              <a:rPr lang="en-US" sz="2000" dirty="0" err="1">
                <a:solidFill>
                  <a:srgbClr val="333333"/>
                </a:solidFill>
              </a:rPr>
              <a:t>scipy</a:t>
            </a:r>
            <a:r>
              <a:rPr lang="en-US" sz="2000" dirty="0">
                <a:solidFill>
                  <a:srgbClr val="333333"/>
                </a:solidFill>
              </a:rPr>
              <a:t> for basic statistics.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Workflow: the importance of the raw → interim → processed → reports folder structure, and utilize GitHub.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Insight: the expectation of "Bitcoin = digital gold" is not automatically supported by data; it's important to check long-term data, not just specific periods in the media.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Time management</a:t>
            </a:r>
            <a:endParaRPr lang="en-US" sz="2000" dirty="0"/>
          </a:p>
        </p:txBody>
      </p:sp>
    </p:spTree>
  </p:cSld>
  <p:clrMapOvr>
    <a:masterClrMapping/>
  </p:clrMapOvr>
  <p:transition spd="slow">
    <p:cover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65760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6576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3C5D"/>
                </a:solidFill>
              </a:rPr>
              <a:t>Future Work &amp; Reflection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457200" y="1089499"/>
            <a:ext cx="8180962" cy="30544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Explore higher‑frequency data (daily/weekly) and additional assets (e.g.   S&amp;P 500, bonds) to contextualise correlations.
Investigate non‑linear dependence using models like DCC‑GARCH or copulas.
Reflect: building reproducible pipelines in Python emphasises the importance of clear data processing and visualising rolling statistics to reveal temporal dynamics.</a:t>
            </a:r>
            <a:endParaRPr lang="en-US" sz="20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65760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6576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3C5D"/>
                </a:solidFill>
              </a:rPr>
              <a:t>Conclusions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457200" y="1063558"/>
            <a:ext cx="8229600" cy="3138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No evidence supports a stable “digital gold” correlation between Bitcoin and gold.
Correlations are regime‑dependent, switching from negative to positive across sub‑periods.
Any safe‑haven role of Bitcoin is episodic rather than persistent.
Limitations: sample size (~66 months), reliance on linear methods, and unmodelled macroeconomic factors (e.g. monetary policy, crises).</a:t>
            </a:r>
            <a:endParaRPr lang="en-US" sz="20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181</TotalTime>
  <Words>872</Words>
  <Application>Microsoft Office PowerPoint</Application>
  <PresentationFormat>On-screen Show (16:9)</PresentationFormat>
  <Paragraphs>124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Noveno Martin</cp:lastModifiedBy>
  <cp:revision>14</cp:revision>
  <dcterms:created xsi:type="dcterms:W3CDTF">2025-12-05T18:01:26Z</dcterms:created>
  <dcterms:modified xsi:type="dcterms:W3CDTF">2025-12-07T20:19:10Z</dcterms:modified>
</cp:coreProperties>
</file>